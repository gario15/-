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793C9A-8D4D-4E56-A3FD-4134A65B77C1}" v="533" dt="2026-04-24T03:06:38.1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raw.io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228492"/>
            <a:ext cx="9144000" cy="2387600"/>
          </a:xfrm>
        </p:spPr>
        <p:txBody>
          <a:bodyPr>
            <a:normAutofit/>
          </a:bodyPr>
          <a:lstStyle/>
          <a:p>
            <a:r>
              <a:rPr lang="ru-RU" sz="4800">
                <a:highlight>
                  <a:srgbClr val="FFFFFF"/>
                </a:highlight>
                <a:latin typeface="Times New Roman"/>
                <a:cs typeface="Times New Roman"/>
              </a:rPr>
              <a:t>ПМ.02 ОСУЩЕСТВЛЕНИЕ ИНТЕГРАЦИИ ПРОГРАММНЫХ МОДУЛЕЙ</a:t>
            </a:r>
            <a:endParaRPr lang="ru-RU" sz="4800">
              <a:highlight>
                <a:srgbClr val="606060"/>
              </a:highlight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70C11C-EAF4-AA60-BF22-F99639ED2305}"/>
              </a:ext>
            </a:extLst>
          </p:cNvPr>
          <p:cNvSpPr txBox="1"/>
          <p:nvPr/>
        </p:nvSpPr>
        <p:spPr>
          <a:xfrm>
            <a:off x="0" y="98322"/>
            <a:ext cx="12450096" cy="10233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>
              <a:lnSpc>
                <a:spcPts val="1657"/>
              </a:lnSpc>
            </a:pPr>
            <a:r>
              <a:rPr lang="ru-RU" sz="1200" b="0" i="0">
                <a:solidFill>
                  <a:srgbClr val="555555"/>
                </a:solidFill>
                <a:latin typeface="Times New Roman"/>
                <a:ea typeface="Segoe UI"/>
                <a:cs typeface="Segoe UI"/>
              </a:rPr>
              <a:t>ГОСУДАРСТВЕННОЕ БЮДЖЕТНОЕ ПРОФЕССИОНАЛЬНОЕ</a:t>
            </a:r>
            <a:r>
              <a:rPr sz="1200" b="0" i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 </a:t>
            </a:r>
          </a:p>
          <a:p>
            <a:pPr algn="ctr" rtl="0">
              <a:lnSpc>
                <a:spcPts val="1657"/>
              </a:lnSpc>
            </a:pPr>
            <a:r>
              <a:rPr lang="ru-RU" sz="1200" b="0" i="0">
                <a:solidFill>
                  <a:srgbClr val="555555"/>
                </a:solidFill>
                <a:latin typeface="Times New Roman"/>
                <a:ea typeface="Segoe UI"/>
                <a:cs typeface="Segoe UI"/>
              </a:rPr>
              <a:t>ОБРАЗОВАТЕЛЬНОЕ УЧРЕЖДЕНИЕ РЕСПУБЛИКИ ХАКАСИЯ</a:t>
            </a:r>
            <a:r>
              <a:rPr sz="1200" b="0" i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 </a:t>
            </a:r>
          </a:p>
          <a:p>
            <a:pPr algn="ctr" rtl="0">
              <a:lnSpc>
                <a:spcPts val="1657"/>
              </a:lnSpc>
            </a:pPr>
            <a:r>
              <a:rPr lang="ru-RU" sz="1200" b="0" i="0">
                <a:solidFill>
                  <a:srgbClr val="555555"/>
                </a:solidFill>
                <a:latin typeface="Times New Roman"/>
                <a:ea typeface="Segoe UI"/>
                <a:cs typeface="Segoe UI"/>
              </a:rPr>
              <a:t>«ХАКАССКИЙ ПОЛИТЕХНИЧЕСКИЙ КОЛЛЕДЖ»</a:t>
            </a:r>
            <a:r>
              <a:rPr sz="1200" b="0" i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 </a:t>
            </a:r>
          </a:p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74D9D7-3614-6E3E-DF74-92B9C42429C3}"/>
              </a:ext>
            </a:extLst>
          </p:cNvPr>
          <p:cNvSpPr txBox="1"/>
          <p:nvPr/>
        </p:nvSpPr>
        <p:spPr>
          <a:xfrm>
            <a:off x="2875937" y="1118420"/>
            <a:ext cx="6698226" cy="10233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>
              <a:lnSpc>
                <a:spcPts val="1657"/>
              </a:lnSpc>
            </a:pPr>
            <a:r>
              <a:rPr lang="ru-RU" sz="2800" b="0" i="0">
                <a:latin typeface="Times New Roman"/>
                <a:ea typeface="Segoe UI"/>
                <a:cs typeface="Segoe UI"/>
              </a:rPr>
              <a:t>ОТЧЕТ</a:t>
            </a:r>
            <a:r>
              <a:rPr sz="2800" b="0" i="0" dirty="0">
                <a:latin typeface="Times New Roman"/>
                <a:ea typeface="Times New Roman"/>
                <a:cs typeface="Times New Roman"/>
              </a:rPr>
              <a:t> </a:t>
            </a:r>
            <a:endParaRPr lang="ru-RU" sz="2800" b="0" i="0">
              <a:latin typeface="Times New Roman"/>
              <a:ea typeface="Times New Roman"/>
              <a:cs typeface="Times New Roman"/>
            </a:endParaRPr>
          </a:p>
          <a:p>
            <a:pPr algn="ctr" rtl="0">
              <a:lnSpc>
                <a:spcPts val="1657"/>
              </a:lnSpc>
            </a:pPr>
            <a:r>
              <a:rPr lang="ru-RU" sz="2800" b="0" i="0">
                <a:latin typeface="Times New Roman"/>
                <a:ea typeface="Segoe UI"/>
                <a:cs typeface="Segoe UI"/>
              </a:rPr>
              <a:t>по учебной практике</a:t>
            </a:r>
            <a:r>
              <a:rPr sz="2800" b="0" i="0" dirty="0">
                <a:latin typeface="Times New Roman"/>
                <a:ea typeface="Times New Roman"/>
                <a:cs typeface="Times New Roman"/>
              </a:rPr>
              <a:t> </a:t>
            </a:r>
          </a:p>
          <a:p>
            <a:pPr algn="ctr" rtl="0">
              <a:lnSpc>
                <a:spcPts val="1657"/>
              </a:lnSpc>
            </a:pPr>
            <a:r>
              <a:rPr lang="ru-RU" sz="2800" b="0" i="0">
                <a:latin typeface="Times New Roman"/>
                <a:ea typeface="Segoe UI"/>
                <a:cs typeface="Segoe UI"/>
              </a:rPr>
              <a:t>по профессиональному модулю</a:t>
            </a:r>
            <a:r>
              <a:rPr sz="2800" b="0" i="0" dirty="0">
                <a:latin typeface="Times New Roman"/>
                <a:ea typeface="Times New Roman"/>
                <a:cs typeface="Times New Roman"/>
              </a:rPr>
              <a:t> </a:t>
            </a:r>
          </a:p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8B3208-138F-497C-F107-362C70B5553E}"/>
              </a:ext>
            </a:extLst>
          </p:cNvPr>
          <p:cNvSpPr txBox="1"/>
          <p:nvPr/>
        </p:nvSpPr>
        <p:spPr>
          <a:xfrm>
            <a:off x="134470" y="5587999"/>
            <a:ext cx="382494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/>
              <a:t>Студент группы ИС(ТП)-31</a:t>
            </a:r>
          </a:p>
          <a:p>
            <a:r>
              <a:rPr lang="ru-RU"/>
              <a:t>Горев Артём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6721E0-DE2D-85CB-34B4-6F9AAD196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b="1">
                <a:ea typeface="+mj-lt"/>
                <a:cs typeface="+mj-lt"/>
              </a:rPr>
              <a:t>Предметная область</a:t>
            </a:r>
            <a:endParaRPr lang="ru-RU" sz="60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D73EB9-DEFD-40AC-14C0-4BACCD189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432"/>
            <a:ext cx="10515600" cy="448653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ru-RU" sz="1800" b="1">
                <a:ea typeface="+mn-lt"/>
                <a:cs typeface="+mn-lt"/>
              </a:rPr>
              <a:t>Проблема:</a:t>
            </a:r>
            <a:endParaRPr lang="ru-RU" sz="1800"/>
          </a:p>
          <a:p>
            <a:r>
              <a:rPr lang="ru-RU" sz="1800">
                <a:ea typeface="+mn-lt"/>
                <a:cs typeface="+mn-lt"/>
              </a:rPr>
              <a:t>Экспоненциальный рост информации</a:t>
            </a:r>
            <a:endParaRPr lang="ru-RU" sz="1800"/>
          </a:p>
          <a:p>
            <a:r>
              <a:rPr lang="ru-RU" sz="1800">
                <a:ea typeface="+mn-lt"/>
                <a:cs typeface="+mn-lt"/>
              </a:rPr>
              <a:t>Линейные документы разрывают связи между данными</a:t>
            </a:r>
            <a:endParaRPr lang="ru-RU" sz="1800"/>
          </a:p>
          <a:p>
            <a:r>
              <a:rPr lang="ru-RU" sz="1800">
                <a:ea typeface="+mn-lt"/>
                <a:cs typeface="+mn-lt"/>
              </a:rPr>
              <a:t>Потеря знаний при смене сотрудников</a:t>
            </a:r>
            <a:endParaRPr lang="ru-RU" sz="1800"/>
          </a:p>
          <a:p>
            <a:pPr marL="0" indent="0">
              <a:buNone/>
            </a:pPr>
            <a:endParaRPr lang="ru-RU" sz="18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ru-RU" sz="1800" b="1">
                <a:ea typeface="+mn-lt"/>
                <a:cs typeface="+mn-lt"/>
              </a:rPr>
              <a:t>Объект автоматизации:</a:t>
            </a:r>
            <a:br>
              <a:rPr lang="ru-RU" sz="1800" b="1" dirty="0">
                <a:ea typeface="+mn-lt"/>
                <a:cs typeface="+mn-lt"/>
              </a:rPr>
            </a:br>
            <a:r>
              <a:rPr lang="ru-RU" sz="1800" b="1">
                <a:ea typeface="+mn-lt"/>
                <a:cs typeface="+mn-lt"/>
              </a:rPr>
              <a:t>Корпоративная база знаний для ООО «Диджитал Сейл» </a:t>
            </a:r>
            <a:endParaRPr lang="ru-RU" sz="1800">
              <a:ea typeface="+mn-lt"/>
              <a:cs typeface="+mn-lt"/>
            </a:endParaRPr>
          </a:p>
          <a:p>
            <a:pPr marL="0" indent="0">
              <a:buNone/>
            </a:pPr>
            <a:endParaRPr lang="ru-RU" sz="1800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ru-RU" sz="1800" b="1">
                <a:ea typeface="+mn-lt"/>
                <a:cs typeface="+mn-lt"/>
              </a:rPr>
              <a:t>Решение:</a:t>
            </a:r>
            <a:br>
              <a:rPr lang="ru-RU" sz="1800" b="1" dirty="0">
                <a:ea typeface="+mn-lt"/>
                <a:cs typeface="+mn-lt"/>
              </a:rPr>
            </a:br>
            <a:r>
              <a:rPr lang="ru-RU" sz="1800" b="1">
                <a:ea typeface="+mn-lt"/>
                <a:cs typeface="+mn-lt"/>
              </a:rPr>
              <a:t>Веб-приложение — упрощённый аналог Obsidian</a:t>
            </a:r>
            <a:endParaRPr lang="ru-RU" sz="1800"/>
          </a:p>
          <a:p>
            <a:r>
              <a:rPr lang="ru-RU" sz="1800">
                <a:ea typeface="+mn-lt"/>
                <a:cs typeface="+mn-lt"/>
              </a:rPr>
              <a:t>Принцип Zettelkasten</a:t>
            </a:r>
            <a:endParaRPr lang="ru-RU" sz="1800"/>
          </a:p>
          <a:p>
            <a:r>
              <a:rPr lang="ru-RU" sz="1800">
                <a:ea typeface="+mn-lt"/>
                <a:cs typeface="+mn-lt"/>
              </a:rPr>
              <a:t>Граф знаний</a:t>
            </a:r>
            <a:endParaRPr lang="ru-RU" sz="1800"/>
          </a:p>
          <a:p>
            <a:r>
              <a:rPr lang="ru-RU" sz="1800">
                <a:ea typeface="+mn-lt"/>
                <a:cs typeface="+mn-lt"/>
              </a:rPr>
              <a:t>Локальное хранение (Markdown-файлы)</a:t>
            </a:r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2598016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03AC5A-25DD-3EDA-6F6D-F0EC92AA0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6000" b="1"/>
              <a:t>Аналоги</a:t>
            </a:r>
            <a:endParaRPr lang="ru-RU" sz="6600" b="1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7709D3D1-FB48-DDD9-165A-9A92959864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6332129"/>
              </p:ext>
            </p:extLst>
          </p:nvPr>
        </p:nvGraphicFramePr>
        <p:xfrm>
          <a:off x="838200" y="1825625"/>
          <a:ext cx="10515600" cy="2772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50319204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7490704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631732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Аналог</a:t>
                      </a:r>
                    </a:p>
                  </a:txBody>
                  <a:tcPr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Ключевая особенность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Минус для нашей задачи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730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1">
                          <a:effectLst/>
                          <a:latin typeface="quote-cjk-patch"/>
                        </a:rPr>
                        <a:t>Logseq</a:t>
                      </a:r>
                      <a:endParaRPr lang="ru-RU" sz="24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Open-source, локальное хранение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Сложная ручная синхронизация</a:t>
                      </a:r>
                    </a:p>
                  </a:txBody>
                  <a:tcPr marL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444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1">
                          <a:effectLst/>
                          <a:latin typeface="quote-cjk-patch"/>
                        </a:rPr>
                        <a:t>Notion</a:t>
                      </a:r>
                      <a:endParaRPr lang="ru-RU" sz="24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Универсальный комбайн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Данные в облаке</a:t>
                      </a:r>
                    </a:p>
                  </a:txBody>
                  <a:tcPr marL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098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1">
                          <a:effectLst/>
                          <a:latin typeface="quote-cjk-patch"/>
                        </a:rPr>
                        <a:t>Tana</a:t>
                      </a:r>
                      <a:endParaRPr lang="ru-RU" sz="24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Супертеги, автоматизация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quote-cjk-patch"/>
                        </a:rPr>
                        <a:t>Платная подписка, нет офлайн-режима</a:t>
                      </a:r>
                    </a:p>
                  </a:txBody>
                  <a:tcPr marL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904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5396E5A-E428-5847-5519-B72A4A09C725}"/>
              </a:ext>
            </a:extLst>
          </p:cNvPr>
          <p:cNvSpPr txBox="1"/>
          <p:nvPr/>
        </p:nvSpPr>
        <p:spPr>
          <a:xfrm>
            <a:off x="835742" y="5186516"/>
            <a:ext cx="11405419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0" dirty="0" err="1">
                <a:latin typeface="quote-cjk-patch"/>
                <a:ea typeface="quote-cjk-patch"/>
                <a:cs typeface="quote-cjk-patch"/>
              </a:rPr>
              <a:t>Вывод</a:t>
            </a:r>
            <a:r>
              <a:rPr lang="en-US" sz="2000" b="1" i="0" dirty="0">
                <a:latin typeface="quote-cjk-patch"/>
                <a:ea typeface="quote-cjk-patch"/>
                <a:cs typeface="quote-cjk-patch"/>
              </a:rPr>
              <a:t>:</a:t>
            </a:r>
            <a:r>
              <a:rPr lang="en-US" sz="2000" b="0" i="0" dirty="0">
                <a:latin typeface="quote-cjk-patch"/>
                <a:ea typeface="quote-cjk-patch"/>
                <a:cs typeface="quote-cjk-patch"/>
              </a:rPr>
              <a:t> </a:t>
            </a:r>
            <a:r>
              <a:rPr lang="en-US" sz="2000" b="0" i="0" dirty="0" err="1">
                <a:latin typeface="quote-cjk-patch"/>
                <a:ea typeface="quote-cjk-patch"/>
                <a:cs typeface="quote-cjk-patch"/>
              </a:rPr>
              <a:t>Выбран</a:t>
            </a:r>
            <a:r>
              <a:rPr lang="en-US" sz="2000" b="0" i="0" dirty="0"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2000" b="0" i="0" dirty="0" err="1">
                <a:latin typeface="quote-cjk-patch"/>
                <a:ea typeface="quote-cjk-patch"/>
                <a:cs typeface="quote-cjk-patch"/>
              </a:rPr>
              <a:t>подход</a:t>
            </a:r>
            <a:r>
              <a:rPr lang="en-US" sz="2000" b="0" i="0" dirty="0">
                <a:latin typeface="quote-cjk-patch"/>
                <a:ea typeface="quote-cjk-patch"/>
                <a:cs typeface="quote-cjk-patch"/>
              </a:rPr>
              <a:t> Obsidian — </a:t>
            </a:r>
            <a:r>
              <a:rPr lang="en-US" sz="2000" b="0" i="0" dirty="0" err="1">
                <a:latin typeface="quote-cjk-patch"/>
                <a:ea typeface="quote-cjk-patch"/>
                <a:cs typeface="quote-cjk-patch"/>
              </a:rPr>
              <a:t>локальность</a:t>
            </a:r>
            <a:r>
              <a:rPr lang="en-US" sz="2000" b="0" i="0" dirty="0">
                <a:latin typeface="quote-cjk-patch"/>
                <a:ea typeface="quote-cjk-patch"/>
                <a:cs typeface="quote-cjk-patch"/>
              </a:rPr>
              <a:t>, </a:t>
            </a:r>
            <a:r>
              <a:rPr lang="en-US" sz="2000" b="0" i="0" dirty="0" err="1">
                <a:latin typeface="quote-cjk-patch"/>
                <a:ea typeface="quote-cjk-patch"/>
                <a:cs typeface="quote-cjk-patch"/>
              </a:rPr>
              <a:t>бесплатность</a:t>
            </a:r>
            <a:r>
              <a:rPr lang="en-US" sz="2000" b="0" i="0" dirty="0">
                <a:latin typeface="quote-cjk-patch"/>
                <a:ea typeface="quote-cjk-patch"/>
                <a:cs typeface="quote-cjk-patch"/>
              </a:rPr>
              <a:t>, </a:t>
            </a:r>
            <a:r>
              <a:rPr lang="en-US" sz="2000" b="0" i="0" dirty="0" err="1">
                <a:latin typeface="quote-cjk-patch"/>
                <a:ea typeface="quote-cjk-patch"/>
                <a:cs typeface="quote-cjk-patch"/>
              </a:rPr>
              <a:t>граф</a:t>
            </a:r>
            <a:r>
              <a:rPr lang="en-US" sz="2000" b="0" i="0" dirty="0"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2000" b="0" i="0" dirty="0" err="1">
                <a:latin typeface="quote-cjk-patch"/>
                <a:ea typeface="quote-cjk-patch"/>
                <a:cs typeface="quote-cjk-patch"/>
              </a:rPr>
              <a:t>знаний</a:t>
            </a:r>
            <a:r>
              <a:rPr lang="en-US" sz="2000" b="0" i="0" dirty="0">
                <a:latin typeface="quote-cjk-patch"/>
                <a:ea typeface="quote-cjk-patch"/>
                <a:cs typeface="quote-cjk-patch"/>
              </a:rPr>
              <a:t>, API </a:t>
            </a:r>
            <a:r>
              <a:rPr lang="en-US" sz="2000" b="0" i="0" dirty="0" err="1">
                <a:latin typeface="quote-cjk-patch"/>
                <a:ea typeface="quote-cjk-patch"/>
                <a:cs typeface="quote-cjk-patch"/>
              </a:rPr>
              <a:t>для</a:t>
            </a:r>
            <a:r>
              <a:rPr lang="en-US" sz="2000" b="0" i="0" dirty="0"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2000" b="0" i="0" dirty="0" err="1">
                <a:latin typeface="quote-cjk-patch"/>
                <a:ea typeface="quote-cjk-patch"/>
                <a:cs typeface="quote-cjk-patch"/>
              </a:rPr>
              <a:t>плагинов</a:t>
            </a:r>
            <a:r>
              <a:rPr lang="en-US" sz="2000" b="0" i="0" dirty="0">
                <a:latin typeface="quote-cjk-patch"/>
                <a:ea typeface="quote-cjk-patch"/>
                <a:cs typeface="quote-cjk-patch"/>
              </a:rPr>
              <a:t>.</a:t>
            </a:r>
            <a:endParaRPr lang="en-US" sz="2000"/>
          </a:p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5509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10C770-FD72-AEED-191B-BC956D77A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6000" b="1"/>
              <a:t>Таблица прецедентов</a:t>
            </a:r>
            <a:endParaRPr lang="ru-RU" sz="6000"/>
          </a:p>
          <a:p>
            <a:endParaRPr lang="ru-RU" dirty="0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950B705E-8463-1F44-ECC6-61F945F725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0544593"/>
              </p:ext>
            </p:extLst>
          </p:nvPr>
        </p:nvGraphicFramePr>
        <p:xfrm>
          <a:off x="838200" y="1825625"/>
          <a:ext cx="10515597" cy="451751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47285">
                  <a:extLst>
                    <a:ext uri="{9D8B030D-6E8A-4147-A177-3AD203B41FA5}">
                      <a16:colId xmlns:a16="http://schemas.microsoft.com/office/drawing/2014/main" val="3412333992"/>
                    </a:ext>
                  </a:extLst>
                </a:gridCol>
                <a:gridCol w="2756104">
                  <a:extLst>
                    <a:ext uri="{9D8B030D-6E8A-4147-A177-3AD203B41FA5}">
                      <a16:colId xmlns:a16="http://schemas.microsoft.com/office/drawing/2014/main" val="4223367555"/>
                    </a:ext>
                  </a:extLst>
                </a:gridCol>
                <a:gridCol w="2756104">
                  <a:extLst>
                    <a:ext uri="{9D8B030D-6E8A-4147-A177-3AD203B41FA5}">
                      <a16:colId xmlns:a16="http://schemas.microsoft.com/office/drawing/2014/main" val="3809280221"/>
                    </a:ext>
                  </a:extLst>
                </a:gridCol>
                <a:gridCol w="2756104">
                  <a:extLst>
                    <a:ext uri="{9D8B030D-6E8A-4147-A177-3AD203B41FA5}">
                      <a16:colId xmlns:a16="http://schemas.microsoft.com/office/drawing/2014/main" val="18509842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quote-cjk-patch"/>
                        </a:rPr>
                        <a:t>ID</a:t>
                      </a:r>
                    </a:p>
                  </a:txBody>
                  <a:tcPr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quote-cjk-patch"/>
                        </a:rPr>
                        <a:t>Прецедент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quote-cjk-patch"/>
                        </a:rPr>
                        <a:t>Актор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quote-cjk-patch"/>
                        </a:rPr>
                        <a:t>Краткое описание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1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quote-cjk-patch"/>
                        </a:rPr>
                        <a:t>01</a:t>
                      </a:r>
                    </a:p>
                  </a:txBody>
                  <a:tcPr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quote-cjk-patch"/>
                        </a:rPr>
                        <a:t>Создать хранилище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quote-cjk-patch"/>
                        </a:rPr>
                        <a:t>Пользователь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quote-cjk-patch"/>
                        </a:rPr>
                        <a:t>Новая папка для заметок</a:t>
                      </a:r>
                    </a:p>
                  </a:txBody>
                  <a:tcPr marL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539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quote-cjk-patch"/>
                        </a:rPr>
                        <a:t>03</a:t>
                      </a:r>
                    </a:p>
                  </a:txBody>
                  <a:tcPr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quote-cjk-patch"/>
                        </a:rPr>
                        <a:t>Создать заметку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quote-cjk-patch"/>
                        </a:rPr>
                        <a:t>Пользователь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quote-cjk-patch"/>
                        </a:rPr>
                        <a:t>Ctrl+N → новый .md файл</a:t>
                      </a:r>
                    </a:p>
                  </a:txBody>
                  <a:tcPr marL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421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quote-cjk-patch"/>
                        </a:rPr>
                        <a:t>06</a:t>
                      </a:r>
                    </a:p>
                  </a:txBody>
                  <a:tcPr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quote-cjk-patch"/>
                        </a:rPr>
                        <a:t>Создать внутреннюю ссылку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quote-cjk-patch"/>
                        </a:rPr>
                        <a:t>Пользователь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quote-cjk-patch"/>
                        </a:rPr>
                        <a:t>[[Название]]</a:t>
                      </a:r>
                    </a:p>
                  </a:txBody>
                  <a:tcPr marL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5486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quote-cjk-patch"/>
                        </a:rPr>
                        <a:t>10</a:t>
                      </a:r>
                    </a:p>
                  </a:txBody>
                  <a:tcPr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quote-cjk-patch"/>
                        </a:rPr>
                        <a:t>Визуализация глобального графа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quote-cjk-patch"/>
                        </a:rPr>
                        <a:t>Пользователь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quote-cjk-patch"/>
                        </a:rPr>
                        <a:t>Карта всех заметок</a:t>
                      </a:r>
                    </a:p>
                  </a:txBody>
                  <a:tcPr marL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37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quote-cjk-patch"/>
                        </a:rPr>
                        <a:t>11</a:t>
                      </a:r>
                    </a:p>
                  </a:txBody>
                  <a:tcPr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quote-cjk-patch"/>
                        </a:rPr>
                        <a:t>Полнотекстовый поиск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quote-cjk-patch"/>
                        </a:rPr>
                        <a:t>Пользователь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quote-cjk-patch"/>
                        </a:rPr>
                        <a:t>Ctrl+Shift+F</a:t>
                      </a:r>
                    </a:p>
                  </a:txBody>
                  <a:tcPr marL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826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quote-cjk-patch"/>
                        </a:rPr>
                        <a:t>19</a:t>
                      </a:r>
                    </a:p>
                  </a:txBody>
                  <a:tcPr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quote-cjk-patch"/>
                        </a:rPr>
                        <a:t>Выполнение Dataview-запроса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quote-cjk-patch"/>
                        </a:rPr>
                        <a:t>Продвинутый пользователь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quote-cjk-patch"/>
                        </a:rPr>
                        <a:t>Динамические выборки</a:t>
                      </a:r>
                    </a:p>
                  </a:txBody>
                  <a:tcPr marL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9679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20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3ADFD4-BCE0-DE63-8139-1F73247AF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072" y="193060"/>
            <a:ext cx="9679857" cy="1350143"/>
          </a:xfrm>
        </p:spPr>
        <p:txBody>
          <a:bodyPr>
            <a:noAutofit/>
          </a:bodyPr>
          <a:lstStyle/>
          <a:p>
            <a:r>
              <a:rPr lang="ru-RU" b="1"/>
              <a:t>Диаграмма вариантов использования</a:t>
            </a:r>
            <a:r>
              <a:rPr lang="ru-RU" sz="5400" b="1"/>
              <a:t> </a:t>
            </a:r>
          </a:p>
        </p:txBody>
      </p:sp>
      <p:pic>
        <p:nvPicPr>
          <p:cNvPr id="4" name="Рисунок 3" descr="Изображение выглядит как текст, диаграмма, Параллельный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127AD6D-A899-C88C-7C45-907448FC9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5204" y="1542127"/>
            <a:ext cx="3881591" cy="502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869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CD538D-EB6E-28DD-7D66-35C272F65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10515600" cy="205704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Диаграмма</a:t>
            </a:r>
            <a:r>
              <a:rPr lang="en-US" sz="5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2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последовательности</a:t>
            </a:r>
            <a:endParaRPr lang="en-US" sz="5200" kern="1200" dirty="0" err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endParaRPr lang="en-US" sz="5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Рисунок 3" descr="Изображение выглядит как текст, снимок экрана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7CB2F9C-7CB2-C46B-AA78-945EF1E2B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64044" y="2644609"/>
            <a:ext cx="2857645" cy="3797536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DEAB761-6AAE-02C4-F905-077A3C210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824726" y="2644609"/>
            <a:ext cx="2534855" cy="3797536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5CEBCE7-0F8C-6385-0319-08CB21E225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990155" y="2644609"/>
            <a:ext cx="2202570" cy="379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698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B65ABA-5A67-822E-6FE6-B566EB546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1135" y="143899"/>
            <a:ext cx="7049730" cy="1325563"/>
          </a:xfrm>
        </p:spPr>
        <p:txBody>
          <a:bodyPr>
            <a:normAutofit/>
          </a:bodyPr>
          <a:lstStyle/>
          <a:p>
            <a:r>
              <a:rPr lang="ru-RU" sz="6000" b="1">
                <a:highlight>
                  <a:srgbClr val="FFFFFF"/>
                </a:highlight>
                <a:latin typeface="Times New Roman"/>
                <a:cs typeface="Times New Roman"/>
              </a:rPr>
              <a:t>Диаграмма классов</a:t>
            </a:r>
            <a:endParaRPr lang="ru-RU" sz="6000" b="1">
              <a:highlight>
                <a:srgbClr val="606060"/>
              </a:highlight>
              <a:latin typeface="Times New Roman"/>
              <a:cs typeface="Times New Roman"/>
            </a:endParaRPr>
          </a:p>
        </p:txBody>
      </p:sp>
      <p:pic>
        <p:nvPicPr>
          <p:cNvPr id="4" name="Объект 3" descr="Изображение выглядит как текст, снимок экрана, 3D-моделирование, Цифровая сбор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371CA1D-EAEF-6B7A-DD9B-C7E5C7A4BF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5400000">
            <a:off x="3701174" y="811674"/>
            <a:ext cx="4789651" cy="6563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675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C0A3A9-8EBF-A549-069E-63DE6B25B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68770" cy="1536192"/>
          </a:xfrm>
        </p:spPr>
        <p:txBody>
          <a:bodyPr anchor="b">
            <a:normAutofit/>
          </a:bodyPr>
          <a:lstStyle/>
          <a:p>
            <a:r>
              <a:rPr lang="ru-RU" sz="5200" b="1">
                <a:highlight>
                  <a:srgbClr val="FFFFFF"/>
                </a:highlight>
                <a:latin typeface="Times New Roman"/>
                <a:cs typeface="Times New Roman"/>
              </a:rPr>
              <a:t>Диаграмма состояний</a:t>
            </a:r>
            <a:endParaRPr lang="ru-RU" sz="5200"/>
          </a:p>
        </p:txBody>
      </p:sp>
      <p:sp>
        <p:nvSpPr>
          <p:cNvPr id="13" name="!!accent">
            <a:extLst>
              <a:ext uri="{FF2B5EF4-FFF2-40B4-BE49-F238E27FC236}">
                <a16:creationId xmlns:a16="http://schemas.microsoft.com/office/drawing/2014/main" id="{8AEA628B-C8FF-4D0B-B111-F101F580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320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663BD0-064C-40FC-A331-F49FCA953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0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Объект 3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581BD42-EFE9-4DF5-464B-4D05F07225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16" r="-3" b="-3"/>
          <a:stretch>
            <a:fillRect/>
          </a:stretch>
        </p:blipFill>
        <p:spPr>
          <a:xfrm>
            <a:off x="7684006" y="10"/>
            <a:ext cx="450799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710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6E212B-9169-865E-A2B3-1261F2571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6000" b="1">
                <a:highlight>
                  <a:srgbClr val="FFFFFF"/>
                </a:highlight>
                <a:latin typeface="Times New Roman"/>
                <a:cs typeface="Times New Roman"/>
              </a:rPr>
              <a:t>Диаграмма  активности</a:t>
            </a:r>
            <a:endParaRPr lang="ru-RU" sz="6000" b="1">
              <a:highlight>
                <a:srgbClr val="606060"/>
              </a:highlight>
              <a:latin typeface="Times New Roman"/>
              <a:cs typeface="Times New Roman"/>
            </a:endParaRPr>
          </a:p>
        </p:txBody>
      </p:sp>
      <p:pic>
        <p:nvPicPr>
          <p:cNvPr id="4" name="Объект 3" descr="Изображение выглядит как текст, диаграмма, Параллельный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EC936F7-B78C-7224-53B3-04F6E5A1A1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5400000">
            <a:off x="3669542" y="694916"/>
            <a:ext cx="4852915" cy="685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238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C1B4A8-0549-4874-38DA-3244CDC9B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6000" b="1">
                <a:highlight>
                  <a:srgbClr val="FFFFFF"/>
                </a:highlight>
                <a:latin typeface="Times New Roman"/>
                <a:cs typeface="Times New Roman"/>
              </a:rPr>
              <a:t>DFD-диаграмма  </a:t>
            </a:r>
            <a:endParaRPr lang="ru-RU" sz="6000" b="1">
              <a:highlight>
                <a:srgbClr val="606060"/>
              </a:highlight>
              <a:latin typeface="Times New Roman"/>
              <a:cs typeface="Times New Roman"/>
            </a:endParaRPr>
          </a:p>
        </p:txBody>
      </p:sp>
      <p:pic>
        <p:nvPicPr>
          <p:cNvPr id="4" name="Объект 3" descr="Изображение выглядит как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75BAEAA-53DB-13A8-CA14-B4E8DDB8AD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5400000">
            <a:off x="4274883" y="-772791"/>
            <a:ext cx="3644350" cy="945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05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8BA5F19-D5E1-4ECC-BEC2-DF7AEDFD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0CC88A9-A661-4C48-866E-8734E511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E8C1C-E845-2BE8-7139-D4A403C03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73" y="393380"/>
            <a:ext cx="7655427" cy="7398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300" dirty="0" err="1"/>
              <a:t>прототипа</a:t>
            </a:r>
            <a:r>
              <a:rPr lang="en-US" sz="2300" dirty="0"/>
              <a:t> </a:t>
            </a:r>
            <a:r>
              <a:rPr lang="en-US" sz="2300" dirty="0" err="1"/>
              <a:t>главной</a:t>
            </a:r>
            <a:r>
              <a:rPr lang="en-US" sz="2300" dirty="0"/>
              <a:t> </a:t>
            </a:r>
            <a:r>
              <a:rPr lang="en-US" sz="2300" dirty="0" err="1"/>
              <a:t>страницы</a:t>
            </a:r>
            <a:r>
              <a:rPr lang="en-US" sz="2300" dirty="0"/>
              <a:t> в </a:t>
            </a:r>
            <a:r>
              <a:rPr lang="en-US" sz="2300" dirty="0" err="1"/>
              <a:t>соответствии</a:t>
            </a:r>
            <a:r>
              <a:rPr lang="en-US" sz="2300" dirty="0"/>
              <a:t> с </a:t>
            </a:r>
            <a:r>
              <a:rPr lang="en-US" sz="2300" dirty="0" err="1"/>
              <a:t>цветовой</a:t>
            </a:r>
            <a:r>
              <a:rPr lang="en-US" sz="2300" dirty="0"/>
              <a:t> </a:t>
            </a:r>
            <a:r>
              <a:rPr lang="en-US" sz="2300" dirty="0" err="1"/>
              <a:t>схемой</a:t>
            </a:r>
            <a:endParaRPr lang="en-US" sz="2300"/>
          </a:p>
        </p:txBody>
      </p:sp>
      <p:pic>
        <p:nvPicPr>
          <p:cNvPr id="4" name="Объект 3" descr="Изображение выглядит как текст, снимок экрана, круг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8B797A3-07EB-4F16-4EAB-CB99F9E1B6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3638" y="2337520"/>
            <a:ext cx="3264234" cy="3365190"/>
          </a:xfrm>
          <a:prstGeom prst="rect">
            <a:avLst/>
          </a:prstGeom>
        </p:spPr>
      </p:pic>
      <p:pic>
        <p:nvPicPr>
          <p:cNvPr id="5" name="Рисунок 4" descr="Изображение выглядит как снимок экрана, дизайн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EB7171E-FDC4-A811-D1B1-26CCBB23E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156" y="2893633"/>
            <a:ext cx="4483510" cy="2252963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FDF195F-784B-4D00-8C92-6FC1B0499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41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E6132F-01FE-FBF6-7C41-7C2B8ECEC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/>
              <a:t>Тестовый сценарий</a:t>
            </a:r>
            <a:endParaRPr lang="ru-RU"/>
          </a:p>
          <a:p>
            <a:endParaRPr lang="ru-RU" dirty="0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BDB04313-0E9B-8690-8D57-AF0C9A88EF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5376564"/>
              </p:ext>
            </p:extLst>
          </p:nvPr>
        </p:nvGraphicFramePr>
        <p:xfrm>
          <a:off x="850490" y="2218915"/>
          <a:ext cx="10515600" cy="3073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8843171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1915537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555169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Пакет</a:t>
                      </a:r>
                    </a:p>
                  </a:txBody>
                  <a:tcPr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Пример теста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Ожидаемый результат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461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1. Установка</a:t>
                      </a:r>
                    </a:p>
                  </a:txBody>
                  <a:tcPr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TC-01: установка на Windows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Приложение запускается без ошибок</a:t>
                      </a:r>
                    </a:p>
                  </a:txBody>
                  <a:tcPr marL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243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3. Ссылки и граф</a:t>
                      </a:r>
                    </a:p>
                  </a:txBody>
                  <a:tcPr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TC-14: создать [[ссылка]]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Ссылка активируется</a:t>
                      </a:r>
                    </a:p>
                  </a:txBody>
                  <a:tcPr marL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7587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5. Поиск</a:t>
                      </a:r>
                    </a:p>
                  </a:txBody>
                  <a:tcPr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TC-28: полнотекстовый поиск "Sun"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Найдены все файлы со словом</a:t>
                      </a:r>
                    </a:p>
                  </a:txBody>
                  <a:tcPr marL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275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6. Плагины</a:t>
                      </a:r>
                    </a:p>
                  </a:txBody>
                  <a:tcPr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TC-34: установить Dataview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Плагин отображается в списке</a:t>
                      </a:r>
                    </a:p>
                  </a:txBody>
                  <a:tcPr marL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948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8. Производительность</a:t>
                      </a:r>
                    </a:p>
                  </a:txBody>
                  <a:tcPr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TC-47: граф из 10 000 заметок</a:t>
                      </a:r>
                    </a:p>
                  </a:txBody>
                  <a:tcPr marL="152400" marR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Рендеринг &lt; 5 секунд</a:t>
                      </a:r>
                    </a:p>
                  </a:txBody>
                  <a:tcPr marL="152400" marT="95250" marB="9525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1368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E76E779-F2ED-2145-C1FC-EE8527DCE883}"/>
              </a:ext>
            </a:extLst>
          </p:cNvPr>
          <p:cNvSpPr txBox="1"/>
          <p:nvPr/>
        </p:nvSpPr>
        <p:spPr>
          <a:xfrm>
            <a:off x="848032" y="1536290"/>
            <a:ext cx="4387646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i="0" dirty="0">
                <a:latin typeface="quote-cjk-patch"/>
                <a:ea typeface="quote-cjk-patch"/>
                <a:cs typeface="quote-cjk-patch"/>
              </a:rPr>
              <a:t>10 </a:t>
            </a:r>
            <a:r>
              <a:rPr lang="en-US" b="1" i="0" dirty="0" err="1">
                <a:latin typeface="quote-cjk-patch"/>
                <a:ea typeface="quote-cjk-patch"/>
                <a:cs typeface="quote-cjk-patch"/>
              </a:rPr>
              <a:t>тестовых</a:t>
            </a:r>
            <a:r>
              <a:rPr lang="en-US" b="1" i="0" dirty="0"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1" i="0" dirty="0" err="1">
                <a:latin typeface="quote-cjk-patch"/>
                <a:ea typeface="quote-cjk-patch"/>
                <a:cs typeface="quote-cjk-patch"/>
              </a:rPr>
              <a:t>пакетов</a:t>
            </a:r>
            <a:r>
              <a:rPr lang="en-US" b="1" i="0" dirty="0">
                <a:latin typeface="quote-cjk-patch"/>
                <a:ea typeface="quote-cjk-patch"/>
                <a:cs typeface="quote-cjk-patch"/>
              </a:rPr>
              <a:t>, </a:t>
            </a:r>
            <a:r>
              <a:rPr lang="en-US" b="1" i="0" dirty="0" err="1">
                <a:latin typeface="quote-cjk-patch"/>
                <a:ea typeface="quote-cjk-patch"/>
                <a:cs typeface="quote-cjk-patch"/>
              </a:rPr>
              <a:t>всего</a:t>
            </a:r>
            <a:r>
              <a:rPr lang="en-US" b="1" i="0" dirty="0">
                <a:latin typeface="quote-cjk-patch"/>
                <a:ea typeface="quote-cjk-patch"/>
                <a:cs typeface="quote-cjk-patch"/>
              </a:rPr>
              <a:t> 66 </a:t>
            </a:r>
            <a:r>
              <a:rPr lang="en-US" b="1" i="0" dirty="0" err="1">
                <a:latin typeface="quote-cjk-patch"/>
                <a:ea typeface="quote-cjk-patch"/>
                <a:cs typeface="quote-cjk-patch"/>
              </a:rPr>
              <a:t>тестов</a:t>
            </a:r>
            <a:r>
              <a:rPr lang="en-US" b="1" i="0" dirty="0">
                <a:latin typeface="quote-cjk-patch"/>
                <a:ea typeface="quote-cjk-patch"/>
                <a:cs typeface="quote-cjk-patch"/>
              </a:rPr>
              <a:t>:</a:t>
            </a:r>
          </a:p>
          <a:p>
            <a:pPr algn="l"/>
            <a:endParaRPr lang="en-US" b="0" i="0">
              <a:solidFill>
                <a:srgbClr val="F9FAFB"/>
              </a:solidFill>
              <a:latin typeface="quote-cjk-patch"/>
              <a:ea typeface="quote-cjk-patch"/>
              <a:cs typeface="quote-cjk-patch"/>
            </a:endParaRPr>
          </a:p>
          <a:p>
            <a:pPr algn="l"/>
            <a:endParaRPr lang="en-US" b="0" i="0">
              <a:solidFill>
                <a:srgbClr val="F9FAFB"/>
              </a:solidFill>
              <a:latin typeface="quote-cjk-patch"/>
              <a:ea typeface="quote-cjk-patch"/>
              <a:cs typeface="quote-cjk-patch"/>
            </a:endParaRPr>
          </a:p>
          <a:p>
            <a:pPr algn="l"/>
            <a:endParaRPr lang="en-US" b="0" i="0">
              <a:solidFill>
                <a:srgbClr val="F9FAFB"/>
              </a:solidFill>
              <a:latin typeface="quote-cjk-patch"/>
              <a:ea typeface="quote-cjk-patch"/>
              <a:cs typeface="quote-cjk-patch"/>
            </a:endParaRPr>
          </a:p>
          <a:p>
            <a:pPr algn="l"/>
            <a:endParaRPr lang="en-US" b="0" i="0">
              <a:solidFill>
                <a:srgbClr val="F9FAFB"/>
              </a:solidFill>
              <a:latin typeface="quote-cjk-patch"/>
              <a:ea typeface="quote-cjk-patch"/>
              <a:cs typeface="quote-cjk-patch"/>
            </a:endParaRPr>
          </a:p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9581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10786F-7F59-41F2-D93D-2E4A6C29B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/>
              <a:t>Вывод</a:t>
            </a:r>
            <a:endParaRPr lang="ru-RU"/>
          </a:p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7AFC07-EEAF-A7BD-F108-2CF44E706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8367"/>
            <a:ext cx="10515600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ru-RU" sz="2400" b="1">
                <a:ea typeface="+mn-lt"/>
                <a:cs typeface="+mn-lt"/>
              </a:rPr>
              <a:t>Что сделано:</a:t>
            </a:r>
            <a:endParaRPr lang="ru-RU" sz="2400"/>
          </a:p>
          <a:p>
            <a:r>
              <a:rPr lang="ru-RU" sz="2400">
                <a:ea typeface="+mn-lt"/>
                <a:cs typeface="+mn-lt"/>
              </a:rPr>
              <a:t>Проанализирована предметная область и 3 аналога</a:t>
            </a:r>
            <a:endParaRPr lang="ru-RU" sz="2400"/>
          </a:p>
          <a:p>
            <a:r>
              <a:rPr lang="ru-RU" sz="2400">
                <a:ea typeface="+mn-lt"/>
                <a:cs typeface="+mn-lt"/>
              </a:rPr>
              <a:t>Разработано ТЗ и выбрано CASE-средство </a:t>
            </a:r>
            <a:r>
              <a:rPr lang="ru-RU" sz="2400" dirty="0"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Draw.io</a:t>
            </a:r>
            <a:endParaRPr lang="ru-RU" sz="2400"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ru-RU" sz="2400">
                <a:ea typeface="+mn-lt"/>
                <a:cs typeface="+mn-lt"/>
              </a:rPr>
              <a:t>Построены: ER-диаграмма, Use Case, Sequence, Class, Activity, State, DFD</a:t>
            </a:r>
            <a:endParaRPr lang="ru-RU" sz="2400"/>
          </a:p>
          <a:p>
            <a:r>
              <a:rPr lang="ru-RU" sz="2400">
                <a:ea typeface="+mn-lt"/>
                <a:cs typeface="+mn-lt"/>
              </a:rPr>
              <a:t>Создан интерактивный прототип в Figma</a:t>
            </a:r>
            <a:endParaRPr lang="ru-RU" sz="2400"/>
          </a:p>
          <a:p>
            <a:r>
              <a:rPr lang="ru-RU" sz="2400">
                <a:ea typeface="+mn-lt"/>
                <a:cs typeface="+mn-lt"/>
              </a:rPr>
              <a:t>Настроен Git + GitHub </a:t>
            </a:r>
          </a:p>
          <a:p>
            <a:r>
              <a:rPr lang="ru-RU" sz="2400">
                <a:ea typeface="+mn-lt"/>
                <a:cs typeface="+mn-lt"/>
              </a:rPr>
              <a:t>Разработаны 10 тестовых пакетов</a:t>
            </a:r>
            <a:endParaRPr lang="ru-RU" sz="2400"/>
          </a:p>
          <a:p>
            <a:endParaRPr lang="ru-RU" sz="24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ru-RU" sz="2400" b="1">
                <a:ea typeface="+mn-lt"/>
                <a:cs typeface="+mn-lt"/>
              </a:rPr>
              <a:t>Результат:</a:t>
            </a:r>
            <a:r>
              <a:rPr lang="ru-RU" sz="2400">
                <a:ea typeface="+mn-lt"/>
                <a:cs typeface="+mn-lt"/>
              </a:rPr>
              <a:t> Полная документация, готовая для передачи разработчикам. Цель достигнута.</a:t>
            </a:r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936455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F930FE-CFA0-2EE0-928E-75341E9BB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1738"/>
            <a:ext cx="10515600" cy="1214950"/>
          </a:xfrm>
        </p:spPr>
        <p:txBody>
          <a:bodyPr/>
          <a:lstStyle/>
          <a:p>
            <a:pPr algn="ctr"/>
            <a:r>
              <a:rPr lang="ru-RU" sz="4800" b="1"/>
              <a:t>Спасибо за внимание</a:t>
            </a:r>
            <a:endParaRPr lang="ru-RU" sz="480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178844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Тема Office</vt:lpstr>
      <vt:lpstr>ПМ.02 ОСУЩЕСТВЛЕНИЕ ИНТЕГРАЦИИ ПРОГРАММНЫХ МОДУЛЕЙ</vt:lpstr>
      <vt:lpstr>Предметная область</vt:lpstr>
      <vt:lpstr>Аналоги</vt:lpstr>
      <vt:lpstr>Таблица прецедентов </vt:lpstr>
      <vt:lpstr>Диаграмма вариантов использования </vt:lpstr>
      <vt:lpstr>Диаграмма последовательности </vt:lpstr>
      <vt:lpstr>Диаграмма классов</vt:lpstr>
      <vt:lpstr>Диаграмма состояний</vt:lpstr>
      <vt:lpstr>Диаграмма  активности</vt:lpstr>
      <vt:lpstr>DFD-диаграмма  </vt:lpstr>
      <vt:lpstr>прототипа главной страницы в соответствии с цветовой схемой</vt:lpstr>
      <vt:lpstr>Тестовый сценарий </vt:lpstr>
      <vt:lpstr>Вывод </vt:lpstr>
      <vt:lpstr>Спасибо за внимание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160</cp:revision>
  <dcterms:created xsi:type="dcterms:W3CDTF">2026-04-24T01:36:53Z</dcterms:created>
  <dcterms:modified xsi:type="dcterms:W3CDTF">2026-04-24T03:09:15Z</dcterms:modified>
</cp:coreProperties>
</file>